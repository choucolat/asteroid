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Launch C3 (km²/s²)</c:v>
                </c:pt>
              </c:strCache>
            </c:strRef>
          </c:tx>
          <c:spPr>
            <a:solidFill>
              <a:srgbClr val="C2610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Apophis</c:v>
                  </c:pt>
                  <c:pt idx="1">
                    <c:v>Ryugu</c:v>
                  </c:pt>
                  <c:pt idx="2">
                    <c:v>2024 YR4</c:v>
                  </c:pt>
                  <c:pt idx="3">
                    <c:v>2013 WA44</c:v>
                  </c:pt>
                  <c:pt idx="4">
                    <c:v>Itokawa</c:v>
                  </c:pt>
                  <c:pt idx="5">
                    <c:v>2001 CQ36</c:v>
                  </c:pt>
                  <c:pt idx="6">
                    <c:v>2011 AA37</c:v>
                  </c:pt>
                  <c:pt idx="7">
                    <c:v>2012 EC</c:v>
                  </c:pt>
                  <c:pt idx="8">
                    <c:v>Bennu</c:v>
                  </c:pt>
                  <c:pt idx="9">
                    <c:v>Didymos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0.004</c:v>
                </c:pt>
                <c:pt idx="1">
                  <c:v>0.009</c:v>
                </c:pt>
                <c:pt idx="2">
                  <c:v>0.01</c:v>
                </c:pt>
                <c:pt idx="3">
                  <c:v>0.149</c:v>
                </c:pt>
                <c:pt idx="4">
                  <c:v>0.259</c:v>
                </c:pt>
                <c:pt idx="5">
                  <c:v>0.409</c:v>
                </c:pt>
                <c:pt idx="6">
                  <c:v>0.52</c:v>
                </c:pt>
                <c:pt idx="7">
                  <c:v>0.75</c:v>
                </c:pt>
                <c:pt idx="8">
                  <c:v>0.81</c:v>
                </c:pt>
                <c:pt idx="9">
                  <c:v>2.502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C3  [km²/s²]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via LEO (direct)</c:v>
                </c:pt>
              </c:strCache>
            </c:strRef>
          </c:tx>
          <c:spPr>
            <a:solidFill>
              <a:srgbClr val="1F29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Ryugu</c:v>
                  </c:pt>
                  <c:pt idx="1">
                    <c:v>Apophis</c:v>
                  </c:pt>
                  <c:pt idx="2">
                    <c:v>2024 YR4</c:v>
                  </c:pt>
                  <c:pt idx="3">
                    <c:v>2013 WA44</c:v>
                  </c:pt>
                  <c:pt idx="4">
                    <c:v>2001 CQ36</c:v>
                  </c:pt>
                  <c:pt idx="5">
                    <c:v>Itokawa</c:v>
                  </c:pt>
                  <c:pt idx="6">
                    <c:v>2011 AA37</c:v>
                  </c:pt>
                  <c:pt idx="7">
                    <c:v>2012 EC</c:v>
                  </c:pt>
                  <c:pt idx="8">
                    <c:v>Bennu</c:v>
                  </c:pt>
                  <c:pt idx="9">
                    <c:v>Didymos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3.177</c:v>
                </c:pt>
                <c:pt idx="1">
                  <c:v>3.177</c:v>
                </c:pt>
                <c:pt idx="2">
                  <c:v>3.177</c:v>
                </c:pt>
                <c:pt idx="3">
                  <c:v>3.183</c:v>
                </c:pt>
                <c:pt idx="4">
                  <c:v>3.195</c:v>
                </c:pt>
                <c:pt idx="5">
                  <c:v>3.188</c:v>
                </c:pt>
                <c:pt idx="6">
                  <c:v>3.2</c:v>
                </c:pt>
                <c:pt idx="7">
                  <c:v>3.211</c:v>
                </c:pt>
                <c:pt idx="8">
                  <c:v>3.214</c:v>
                </c:pt>
                <c:pt idx="9">
                  <c:v>3.291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via L2</c:v>
                </c:pt>
              </c:strCache>
            </c:strRef>
          </c:tx>
          <c:spPr>
            <a:solidFill>
              <a:srgbClr val="C261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Ryugu</c:v>
                  </c:pt>
                  <c:pt idx="1">
                    <c:v>Apophis</c:v>
                  </c:pt>
                  <c:pt idx="2">
                    <c:v>2024 YR4</c:v>
                  </c:pt>
                  <c:pt idx="3">
                    <c:v>2013 WA44</c:v>
                  </c:pt>
                  <c:pt idx="4">
                    <c:v>2001 CQ36</c:v>
                  </c:pt>
                  <c:pt idx="5">
                    <c:v>Itokawa</c:v>
                  </c:pt>
                  <c:pt idx="6">
                    <c:v>2011 AA37</c:v>
                  </c:pt>
                  <c:pt idx="7">
                    <c:v>2012 EC</c:v>
                  </c:pt>
                  <c:pt idx="8">
                    <c:v>Bennu</c:v>
                  </c:pt>
                  <c:pt idx="9">
                    <c:v>Didymos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3.421</c:v>
                </c:pt>
                <c:pt idx="1">
                  <c:v>3.457</c:v>
                </c:pt>
                <c:pt idx="2">
                  <c:v>3.551</c:v>
                </c:pt>
                <c:pt idx="3">
                  <c:v>3.311</c:v>
                </c:pt>
                <c:pt idx="4">
                  <c:v>3.635</c:v>
                </c:pt>
                <c:pt idx="5">
                  <c:v>3.967</c:v>
                </c:pt>
                <c:pt idx="6">
                  <c:v>3.716</c:v>
                </c:pt>
                <c:pt idx="7">
                  <c:v>3.823</c:v>
                </c:pt>
                <c:pt idx="8">
                  <c:v>4.013</c:v>
                </c:pt>
                <c:pt idx="9">
                  <c:v>4.519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Total mission departure Δv  [km/s]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Asteroid Mission Design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Update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26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Multi-target trajectory screening, launch feasibility &amp; L2 departure analysis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11,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41080" y="685800"/>
            <a:ext cx="2103120" cy="2103120"/>
          </a:xfrm>
          <a:prstGeom prst="ellipse">
            <a:avLst/>
          </a:prstGeom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15400" y="960120"/>
            <a:ext cx="1554480" cy="1554480"/>
          </a:xfrm>
          <a:prstGeom prst="ellipse">
            <a:avLst/>
          </a:prstGeom>
          <a:ln w="15875">
            <a:solidFill>
              <a:srgbClr val="CADCFC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89720" y="1234440"/>
            <a:ext cx="1005840" cy="1005840"/>
          </a:xfrm>
          <a:prstGeom prst="ellipse">
            <a:avLst/>
          </a:prstGeom>
          <a:ln w="15875">
            <a:solidFill>
              <a:srgbClr val="C2610C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10344" y="1655064"/>
            <a:ext cx="164592" cy="164592"/>
          </a:xfrm>
          <a:prstGeom prst="ellipse">
            <a:avLst/>
          </a:prstGeom>
          <a:solidFill>
            <a:srgbClr val="C2610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this week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hand-tuned porkchop plot to an automated, multi-target screening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947672"/>
            <a:ext cx="420624" cy="420624"/>
          </a:xfrm>
          <a:prstGeom prst="ellipse">
            <a:avLst/>
          </a:prstGeom>
          <a:solidFill>
            <a:srgbClr val="C2610C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flyby targeting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22219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flybys now use real B-plane offset targeting instead of a disguised collision trajectory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36792" y="1947672"/>
            <a:ext cx="420624" cy="420624"/>
          </a:xfrm>
          <a:prstGeom prst="ellipse">
            <a:avLst/>
          </a:prstGeom>
          <a:solidFill>
            <a:srgbClr val="C2610C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8562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Multi-asteroid batch screening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49440" y="22219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script now screens N candidates at once for intercept, flyby, and rendezvous cost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36499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" y="3621024"/>
            <a:ext cx="420624" cy="420624"/>
          </a:xfrm>
          <a:prstGeom prst="ellipse">
            <a:avLst/>
          </a:prstGeom>
          <a:solidFill>
            <a:srgbClr val="C2610C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5295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real candidates acquired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54480" y="389534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via JPL's NHATS list + Close-Approach Data tool; downloaded via a Horizons API script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36499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36792" y="3621024"/>
            <a:ext cx="420624" cy="420624"/>
          </a:xfrm>
          <a:prstGeom prst="ellipse">
            <a:avLst/>
          </a:prstGeom>
          <a:solidFill>
            <a:srgbClr val="C2610C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5295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Discovery-to-reachability check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49440" y="389534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each object's real discovery date, is it reachable by its next close-approach window?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038344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41832" y="5294376"/>
            <a:ext cx="420624" cy="420624"/>
          </a:xfrm>
          <a:prstGeom prst="ellipse">
            <a:avLst/>
          </a:prstGeom>
          <a:solidFill>
            <a:srgbClr val="C2610C"/>
          </a:solidFill>
          <a:ln/>
        </p:spPr>
      </p:sp>
      <p:sp>
        <p:nvSpPr>
          <p:cNvPr id="26" name="Text 24"/>
          <p:cNvSpPr/>
          <p:nvPr/>
        </p:nvSpPr>
        <p:spPr>
          <a:xfrm>
            <a:off x="941832" y="5294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54480" y="52029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launch-window feasibility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54480" y="556869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Δv and launch-site (inclination) reachability layered on top of the cheapest transfers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5038344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/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36792" y="5294376"/>
            <a:ext cx="420624" cy="420624"/>
          </a:xfrm>
          <a:prstGeom prst="ellipse">
            <a:avLst/>
          </a:prstGeom>
          <a:solidFill>
            <a:srgbClr val="C2610C"/>
          </a:solidFill>
          <a:ln/>
        </p:spPr>
      </p:sp>
      <p:sp>
        <p:nvSpPr>
          <p:cNvPr id="31" name="Text 29"/>
          <p:cNvSpPr/>
          <p:nvPr/>
        </p:nvSpPr>
        <p:spPr>
          <a:xfrm>
            <a:off x="6336792" y="5294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52029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Sun-Earth L2 departure (Tier 1)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49440" y="556869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comparison of staging through L2 vs. launching directly from LEO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mission types, one Lambert solver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two-body, zero-revolution Lambert transfers, patched-conic at Earth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167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880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asteroid's exact position at arrival. Minimizes launch C3 — the kinetic-impactor case.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4636008" y="2194560"/>
            <a:ext cx="365760" cy="365760"/>
          </a:xfrm>
          <a:prstGeom prst="ellipse">
            <a:avLst/>
          </a:prstGeom>
          <a:solidFill>
            <a:srgbClr val="C2610C"/>
          </a:solidFill>
          <a:ln/>
        </p:spPr>
      </p:sp>
      <p:sp>
        <p:nvSpPr>
          <p:cNvPr id="10" name="Text 8"/>
          <p:cNvSpPr/>
          <p:nvPr/>
        </p:nvSpPr>
        <p:spPr>
          <a:xfrm>
            <a:off x="5184648" y="2167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36008" y="2926080"/>
            <a:ext cx="2880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 point offset from the asteroid by a chosen standoff (500 km) in the B-plane, so the pass is a real reconnaissance geometry, not a near-miss collision.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83296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357616" y="2194560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8906256" y="2167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Rendezvous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57616" y="2926080"/>
            <a:ext cx="2880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exact position and burns to match the asteroid's velocity on arrival. Minimizes total mission Δv.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candidates, selected deliberately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 of well-characterized flown-mission targets and low-Δv NHATS candidates, so the comparison has real spread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5669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included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YR4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working target; Dec 2028 Earth 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99942 Apophis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Famous near-zero-cost natural approach, Apr 2029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101955 Bennu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flown mission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OSIRIS-REx sample-return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162173 Ryugu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flown mission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Hayabusa2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25143 Itokawa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flown mission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Hayabusa (original)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65803 Didymos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flown mission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DART target — deliberately the “hard”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 AA37 / 2012 EC / 2013 WA44 / 2001 CQ36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NHATS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Low-Δv (~5–6 km/s round trip) small NEAs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1783080"/>
            <a:ext cx="1097280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69080" y="1783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80760" y="1783080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included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dates and Earth close-approach dates pulled from JPL's SBDB and CAD APIs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006840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B1E3D"/>
          </a:solidFill>
          <a:ln/>
        </p:spPr>
      </p:sp>
      <p:sp>
        <p:nvSpPr>
          <p:cNvPr id="11" name="Text 8"/>
          <p:cNvSpPr/>
          <p:nvPr/>
        </p:nvSpPr>
        <p:spPr>
          <a:xfrm>
            <a:off x="9006840" y="542239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26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9144000" y="6035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screened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results: launch cost varies 600×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Best-case launch characteristic energy (C3) for a direct intercept, by target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patient does each mission need to be?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flight across all 10 candidates, at each mission type's own optimum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100–355 days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across the batch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3172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 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3172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 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61688" y="192024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2148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6008" y="2560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105–740 days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36008" y="29992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across the batch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36008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53328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 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36008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53328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83296" y="192024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2148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Rendezvous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57616" y="2560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105–495 days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57616" y="29992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across the batch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57616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774936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 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57616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774936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Reachable soon after discovery?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discovery dates + real Earth close-approach dates define two windows: can a mission launch after discovery and arrive by the second close approach that follows it?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640080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3182112"/>
            <a:ext cx="128016" cy="12801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-365760" y="3410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16352" y="3182112"/>
            <a:ext cx="128016" cy="128016"/>
          </a:xfrm>
          <a:prstGeom prst="ellipse">
            <a:avLst/>
          </a:prstGeom>
          <a:solidFill>
            <a:srgbClr val="C2610C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3410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approach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(period 1 ends)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84648" y="3182112"/>
            <a:ext cx="128016" cy="128016"/>
          </a:xfrm>
          <a:prstGeom prst="ellipse">
            <a:avLst/>
          </a:prstGeom>
          <a:solidFill>
            <a:srgbClr val="C2610C"/>
          </a:solidFill>
          <a:ln/>
        </p:spPr>
      </p:sp>
      <p:sp>
        <p:nvSpPr>
          <p:cNvPr id="10" name="Text 8"/>
          <p:cNvSpPr/>
          <p:nvPr/>
        </p:nvSpPr>
        <p:spPr>
          <a:xfrm>
            <a:off x="4242816" y="3410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approach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(period 2 ends)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218688"/>
            <a:ext cx="2240280" cy="5486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880360" y="3218688"/>
            <a:ext cx="2368296" cy="54864"/>
          </a:xfrm>
          <a:prstGeom prst="rect">
            <a:avLst/>
          </a:prstGeom>
          <a:solidFill>
            <a:srgbClr val="C261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283464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26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 — the deadline checked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9204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Didymos: no close approach inside its downloaded ephemeris window — reported as unavailable, not guessed at.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35240" y="18288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0B1E3D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2468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26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8001000" y="3749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evaluable candidates reachable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their next period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0100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(C3 ≤ 30 km²/s² threshold, adjustable)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Cheapest ≠ launchable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Δv from a 400 km / 28.5° LEO parking orbit, and whether each target's cheapest transfer is actually launchable without a plane-change burn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departure trajectory's C3 fixes its speed, but not its direction. The departure asymptote's declination (DLA) must fall within the parking orbit's inclination, or the launch needs an extra plane-change burn.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real geometric constraint, independent of how cheap the transfer looks on a porkchop plot.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965960"/>
            <a:ext cx="5532120" cy="3657600"/>
          </a:xfrm>
          <a:prstGeom prst="roundRect">
            <a:avLst>
              <a:gd name="adj" fmla="val 2000"/>
            </a:avLst>
          </a:prstGeom>
          <a:solidFill>
            <a:srgbClr val="0B1E3D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23317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26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10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6492240" y="35661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targets' cheapest-C3 transfer is directly launchable from this parking orbit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4434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Δv across the batch: 3.18 – 3.29 km/s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48920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other 5, the cheapest directly-launchable date costs only marginally more — not a large penalty here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Sun-Earth L2 vs. direct LEO escape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approximation: L2 modeled as co-moving with Earth, offset ~1.5M km; +3.2 km/s fixed cost to stage there first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112471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leaves 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6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THIS WEEK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9659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 analysis now uses genuine B-plane targeting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10-target batch screening pipeline runs end to end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9 evaluable targets reachable by next period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launch-window feasibility layered onto cost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636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6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/ NEXT STEPS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result (LEO cheaper for all 10) is Tier 1 only — blind to low-energy manifold departures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(real CR3BP halo-orbit dynamics) would need a standalone three-body solver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plot_porkchop.py beyond 2024 YR4 to any target file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worth building Tier 2, or is Tier 1 sufficient for our purposes?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data, and full result tables available in the shared project folder.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2026-08-11T14:29:47Z</dcterms:created>
  <dcterms:modified xsi:type="dcterms:W3CDTF">2026-08-11T14:29:47Z</dcterms:modified>
</cp:coreProperties>
</file>